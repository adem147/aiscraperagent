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Segoe UI"/>
              </a:defRPr>
            </a:pPr>
            <a:r>
              <a:t>AIScraperAgent</a:t>
            </a:r>
          </a:p>
          <a:p>
            <a:pPr>
              <a:spcAft>
                <a:spcPts val="24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AI-Driven Automated Procurement Monitoring &amp; Vector Search System</a:t>
            </a:r>
          </a:p>
          <a:p>
            <a:pPr>
              <a:spcAft>
                <a:spcPts val="32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End-to-End Pipeline: Dual Ingestion (HTML &amp; API) → Multilingual LLM Mapping → Pandas Normalization → Qdrant 384-Dim Vector Search → SQLite Persistence</a:t>
            </a:r>
          </a:p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Author: Adem RIAHI  |  CERT AI Engineering Team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AISCRAPERAGENT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Context &amp; Technical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Why standard scrapers fail on modern procurement portals and what AIScraperAgent solves.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1. The Challenge (Why Traditional Scraping Fails)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Fragile DOM Selectors: </a:t>
            </a:r>
            <a:r>
              <a:rPr sz="1100">
                <a:solidFill>
                  <a:srgbClr val="64748B"/>
                </a:solidFill>
              </a:rPr>
              <a:t>Modern procurement portals (World Bank, UN, TUNEPS) use React/Angular SPAs. Changing CSS classes or HTML structure breaks traditional XPath/CSS scrapers.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Heterogeneous Portals: </a:t>
            </a:r>
            <a:r>
              <a:rPr sz="1100">
                <a:solidFill>
                  <a:srgbClr val="64748B"/>
                </a:solidFill>
              </a:rPr>
              <a:t>Some platforms serve static HTML, while others load dynamic JSON API feeds behind asynchronous client-side requests.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Messy, Inconsistent Keys: </a:t>
            </a:r>
            <a:r>
              <a:rPr sz="1100">
                <a:solidFill>
                  <a:srgbClr val="64748B"/>
                </a:solidFill>
              </a:rPr>
              <a:t>Different portals use conflicting JSON schemas ('proc_title', 'descr', 'ddv', 'buyer_org', 'subm_date') with missing fields.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Keyword Limitations: </a:t>
            </a:r>
            <a:r>
              <a:rPr sz="1100">
                <a:solidFill>
                  <a:srgbClr val="64748B"/>
                </a:solidFill>
              </a:rPr>
              <a:t>Keyword searching misses high-value tenders written in French or Arabic with differing phrasing (e.g. 'SOC managé' vs 'Cybersecurity platform').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2. The AIScraperAgent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Dual-Channel Ingestion: </a:t>
            </a:r>
            <a:r>
              <a:rPr sz="1100">
                <a:solidFill>
                  <a:srgbClr val="64748B"/>
                </a:solidFill>
              </a:rPr>
              <a:t>Direct static HTML parsing (BeautifulSoup) for standard sites + Playwright network response interception for SPAs.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LLM-Powered Mapping: </a:t>
            </a:r>
            <a:r>
              <a:rPr sz="1100">
                <a:solidFill>
                  <a:srgbClr val="64748B"/>
                </a:solidFill>
              </a:rPr>
              <a:t>NVIDIA Llama-3.1 automatically extracts entities from unstructured text and normalizes chaotic JSON payloads into a strict Pydantic model.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384-Dim Vector Indexing: </a:t>
            </a:r>
            <a:r>
              <a:rPr sz="1100">
                <a:solidFill>
                  <a:srgbClr val="64748B"/>
                </a:solidFill>
              </a:rPr>
              <a:t>HuggingFace SentenceTransformer ('all-MiniLM-L6-v2') embeds all descriptions into dense vector space inside Qdrant.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Relational Persistence: </a:t>
            </a:r>
            <a:r>
              <a:rPr sz="1100">
                <a:solidFill>
                  <a:srgbClr val="64748B"/>
                </a:solidFill>
              </a:rPr>
              <a:t>Top 5 similarity matches are persisted into SQLite ('CERT.db') and served through a lightweight, clean web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AISCRAPERAGENT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Handwritten Workflow: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Direct mapping of the design diagram into the functional software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1. DATA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Raw tender input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4688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2. INGESTION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HTML Text vs API Payloads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  <a:latin typeface="Segoe UI"/>
              </a:defRPr>
            </a:pPr>
            <a:r>
              <a:t>3. LLM / NLP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Entity Extraction &amp; JSON Mapper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4688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82880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4. JSON SCHEMA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Unified Pydantic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5. DATAFRAME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Pandas DF &amp; Field Normalization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84632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02336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2062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  <a:latin typeface="Segoe UI"/>
              </a:defRPr>
            </a:pPr>
            <a:r>
              <a:t>6. EMBEDDING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SentenceTransformer 384-dim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84632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02336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2062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7. SEMANTIC SEARCH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Cosine Similarity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84632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402336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42062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8. SQLITE (CERT.db)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Relational Top 5 Storage &amp;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AISCRAPERAGENT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Stage 1: Dual-Channel Ingestion (HTML &amp; 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Adapting to different portal technologies without hardcoding fragile scraping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Channel A: Static HTML Scraping (static_sc.py)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Target Sites: </a:t>
            </a:r>
            <a:r>
              <a:rPr sz="1100">
                <a:solidFill>
                  <a:srgbClr val="64748B"/>
                </a:solidFill>
              </a:rPr>
              <a:t>Standard institutional portals (e.g. INTT Tunisie) where notices are rendered directly in static HTML.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Extraction Strategy: </a:t>
            </a:r>
            <a:r>
              <a:rPr sz="1100">
                <a:solidFill>
                  <a:srgbClr val="64748B"/>
                </a:solidFill>
              </a:rPr>
              <a:t>Fetches notice URLs using BeautifulSoup4, extracts raw text content from the linked tender pages.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Handling Pagination: </a:t>
            </a:r>
            <a:r>
              <a:rPr sz="1100">
                <a:solidFill>
                  <a:srgbClr val="64748B"/>
                </a:solidFill>
              </a:rPr>
              <a:t>Loops over query parameters ('?pageNum_rsAllAo=0...') until all candidate notices are retrieved.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Handoff to Pipeline: </a:t>
            </a:r>
            <a:r>
              <a:rPr sz="1100">
                <a:solidFill>
                  <a:srgbClr val="64748B"/>
                </a:solidFill>
              </a:rPr>
              <a:t>Passes raw unstructured text strings directly to the Multilingual NLP Extractor.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Channel B: Dynamic API Interception (sc2.py)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Target Sites: </a:t>
            </a:r>
            <a:r>
              <a:rPr sz="1100">
                <a:solidFill>
                  <a:srgbClr val="64748B"/>
                </a:solidFill>
              </a:rPr>
              <a:t>Complex Single Page Applications (e.g. World Bank Opportunities) that render content asynchronously via background AJAX/XHR.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Playwright Headless Browser: </a:t>
            </a:r>
            <a:r>
              <a:rPr sz="1100">
                <a:solidFill>
                  <a:srgbClr val="64748B"/>
                </a:solidFill>
              </a:rPr>
              <a:t>Navigates to the portal, listens to network responses via `page.on('response', handle_response)`.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Safe Middle-Item Sampling: </a:t>
            </a:r>
            <a:r>
              <a:rPr sz="1100">
                <a:solidFill>
                  <a:srgbClr val="64748B"/>
                </a:solidFill>
              </a:rPr>
              <a:t>Extracts middle response items to avoid header/pagination noise, scoring endpoint usefulness via embeddings.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Persistent API Cache: </a:t>
            </a:r>
            <a:r>
              <a:rPr sz="1100">
                <a:solidFill>
                  <a:srgbClr val="64748B"/>
                </a:solidFill>
              </a:rPr>
              <a:t>Saves the best discovered API endpoint into SQLite (`best_api_endpoints`) to skip future discovery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AISCRAPERAGENT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Stage 2: LLM Entity Extraction &amp; Universal JSON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Using NVIDIA Llama-3.1-8B to convert unstructured multilingual inputs into a unified schema.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Multilingual NLP Extractor (nlp_extractor.py)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Multilingual Support: </a:t>
            </a:r>
            <a:r>
              <a:rPr sz="1100">
                <a:solidFill>
                  <a:srgbClr val="64748B"/>
                </a:solidFill>
              </a:rPr>
              <a:t>Native parsing of French (FR), English (EN), and Arabic (AR) tender notices.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Extracted Key Entities: </a:t>
            </a:r>
            <a:r>
              <a:rPr sz="1100">
                <a:solidFill>
                  <a:srgbClr val="64748B"/>
                </a:solidFill>
              </a:rPr>
              <a:t>Extracts 7 critical tender parameters from messy text:
  1. Objet (Project Title)
  2. Organisme (Issuing Authority)
  3. Dates (Publication, Deadline, Opening)
  4. Budget (Numeric value &amp; Currency)
  5. Lots (Breakdown of scope &amp; lot budgets)
  6. Critères (Eligibility &amp; technical requirements)
  7. Documents Requis (Bonds, tax clearance, CVs)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Fault-Tolerant Parsing: </a:t>
            </a:r>
            <a:r>
              <a:rPr sz="1100">
                <a:solidFill>
                  <a:srgbClr val="64748B"/>
                </a:solidFill>
              </a:rPr>
              <a:t>Strikes markdown delimiters and auto-repairs invalid JSON to ensure 100% pipeline reliability.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Universal JSON Transformer (json_transformer.py)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The Schema Conflict Problem: </a:t>
            </a:r>
            <a:r>
              <a:rPr sz="1100">
                <a:solidFill>
                  <a:srgbClr val="64748B"/>
                </a:solidFill>
              </a:rPr>
              <a:t>World Bank uses 'procnotices', TUNEPS uses 'payload.data', others use 'results' or 'tenders'.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AI Schema Mapper: </a:t>
            </a:r>
            <a:r>
              <a:rPr sz="1100">
                <a:solidFill>
                  <a:srgbClr val="64748B"/>
                </a:solidFill>
              </a:rPr>
              <a:t>The LLM inspects raw JSON keys and generates a dynamic field-mapping dictionary on the fly.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Unified Pydantic Schema: </a:t>
            </a:r>
            <a:r>
              <a:rPr sz="1100">
                <a:solidFill>
                  <a:srgbClr val="64748B"/>
                </a:solidFill>
              </a:rPr>
              <a:t>Standardizes all notices into the 'ProcurementNotice' class with type validation for dates, floats, and lists.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Deduplication Hashing: </a:t>
            </a:r>
            <a:r>
              <a:rPr sz="1100">
                <a:solidFill>
                  <a:srgbClr val="64748B"/>
                </a:solidFill>
              </a:rPr>
              <a:t>Computes a SHA256 hash (`generate_hash(title, deadline, desc)`) to prevent duplicate notices in SQLite.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AISCRAPERAGENT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Stage 3: Pandas DataFrame Wrangling &amp;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Transforming structured JSON into clean tabular datasets (filtering.py &amp; main.py).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1. DataFrame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/>
            </a:pPr>
            <a:r>
              <a:t>Flattening &amp; Ingestion: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Converts nested JSON responses into tabular Pandas DataFrames (`pd.json_normalize`).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Extracts relevant root lists from complex response payloads.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Preserves raw payload records for audit trails.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9593992320" y="155448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9594175200" y="1719072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2. Relevance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9594129480" y="210312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/>
            </a:pPr>
            <a:r>
              <a:t>Pruning Noise: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Discards non-relevant columns (internal UI state, pagination IDs, styling tokens).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Filters out rows with empty titles or missing descriptions.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Drops outdated notices where submission deadline has already elapsed.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9187253120" y="155448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87436000" y="1719072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3. Field 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87390280" y="210312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/>
            </a:pPr>
            <a:r>
              <a:t>Standardization: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Dates: Parsed via `dateutil.parser` into standardized ISO format.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Text Fields: Stripped of HTML tags, excess whitespace, and encoded characters.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Output Export: Verified datasets written to `output.txt` for quality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AISCRAPERAGENT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Stage 4: Vector Embeddings &amp; Semantic Search (Qdrant)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Overcoming exact-match keyword limitations using 384-dimensional dense semantic vectors.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Vector Embedding Engine (qdrant_embedding.py)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HuggingFace Model: </a:t>
            </a:r>
            <a:r>
              <a:rPr sz="1100">
                <a:solidFill>
                  <a:srgbClr val="64748B"/>
                </a:solidFill>
              </a:rPr>
              <a:t>'sentence-transformers/all-MiniLM-L6-v2'.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Vector Dimensionality: </a:t>
            </a:r>
            <a:r>
              <a:rPr sz="1100">
                <a:solidFill>
                  <a:srgbClr val="64748B"/>
                </a:solidFill>
              </a:rPr>
              <a:t>384-dimensional normalized dense vectors.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Embedded Content: </a:t>
            </a:r>
            <a:r>
              <a:rPr sz="1100">
                <a:solidFill>
                  <a:srgbClr val="64748B"/>
                </a:solidFill>
              </a:rPr>
              <a:t>Concatenation of Notice Title + Full Scope Description (`title + ' ' + description`).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Qdrant Vector DB: </a:t>
            </a:r>
            <a:r>
              <a:rPr sz="1100">
                <a:solidFill>
                  <a:srgbClr val="64748B"/>
                </a:solidFill>
              </a:rPr>
              <a:t>Indexed using Cosine Distance metric for ultra-fast, sub-millisecond similarity scoring.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Payload Metadata: </a:t>
            </a:r>
            <a:r>
              <a:rPr sz="1100">
                <a:solidFill>
                  <a:srgbClr val="64748B"/>
                </a:solidFill>
              </a:rPr>
              <a:t>Each vector point stores notice ID, title, and hash ID for instant retrieval.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Targeted Semantic Retrieval (Cosine Ranking)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Domain Target Query: </a:t>
            </a:r>
            <a:r>
              <a:rPr sz="1100">
                <a:solidFill>
                  <a:srgbClr val="64748B"/>
                </a:solidFill>
              </a:rPr>
              <a:t>Encodes CERT's core competency criteria: 'Procurement opportunities in IT, AI/ML, cybersecurity, cloud computing, data science, automation'.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Vector Similarity Query: </a:t>
            </a:r>
            <a:r>
              <a:rPr sz="1100">
                <a:solidFill>
                  <a:srgbClr val="64748B"/>
                </a:solidFill>
              </a:rPr>
              <a:t>Runs `client.query_points()` against Qdrant collection with the target query vector.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Top 5 Results Extraction: </a:t>
            </a:r>
            <a:r>
              <a:rPr sz="1100">
                <a:solidFill>
                  <a:srgbClr val="64748B"/>
                </a:solidFill>
              </a:rPr>
              <a:t>Pulls the top 5 highest-scoring opportunity points (e.g. scores 0.43 to 0.29).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SQLite Persistence: </a:t>
            </a:r>
            <a:r>
              <a:rPr sz="1100">
                <a:solidFill>
                  <a:srgbClr val="64748B"/>
                </a:solidFill>
              </a:rPr>
              <a:t>Constructs `SimilarityResult` models and persists the top 5 directly into SQLite (`similarity_results` table).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AISCRAPERAGENT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Stage 5: SQLite Database &amp; Clean Web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Dual-layer storage model and the lightweight, non-AI styled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SQLite Relational Database (CERT.db)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opportunities Table: </a:t>
            </a:r>
            <a:r>
              <a:rPr sz="1100">
                <a:solidFill>
                  <a:srgbClr val="64748B"/>
                </a:solidFill>
              </a:rPr>
              <a:t>Stores comprehensive metadata (ID, title, description, organization, country, sector, submission deadline, budget, document URL, hash ID).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similarity_results Table: </a:t>
            </a:r>
            <a:r>
              <a:rPr sz="1100">
                <a:solidFill>
                  <a:srgbClr val="64748B"/>
                </a:solidFill>
              </a:rPr>
              <a:t>Stores the latest top 5 ranked opportunities with their cosine similarity scores.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sources &amp; best_api_endpoints: </a:t>
            </a:r>
            <a:r>
              <a:rPr sz="1100">
                <a:solidFill>
                  <a:srgbClr val="64748B"/>
                </a:solidFill>
              </a:rPr>
              <a:t>Maintains registered scraping portals and discovered API endpoints.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SQLAlchemy ORM: </a:t>
            </a:r>
            <a:r>
              <a:rPr sz="1100">
                <a:solidFill>
                  <a:srgbClr val="64748B"/>
                </a:solidFill>
              </a:rPr>
              <a:t>Clean abstraction in `database/models.py` with attribute aliases ensuring backwards compatibility.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Clean Dashboard (app.py &amp; static/)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FastAPI Backend: </a:t>
            </a:r>
            <a:r>
              <a:rPr sz="1100">
                <a:solidFill>
                  <a:srgbClr val="64748B"/>
                </a:solidFill>
              </a:rPr>
              <a:t>Exposes `GET /api/results/top5` to fetch the top 5 records from SQLite, and `POST /api/run-pipeline` to trigger `main.py`.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Simple &amp; Functional UI: </a:t>
            </a:r>
            <a:r>
              <a:rPr sz="1100">
                <a:solidFill>
                  <a:srgbClr val="64748B"/>
                </a:solidFill>
              </a:rPr>
              <a:t>Clean, non-AI styled data table displaying # Rank, Title &amp; Description, Organization/Country, Sector, Deadline, Match Score, and View link.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One-Click Trigger: </a:t>
            </a:r>
            <a:r>
              <a:rPr sz="1100">
                <a:solidFill>
                  <a:srgbClr val="64748B"/>
                </a:solidFill>
              </a:rPr>
              <a:t>'Run main.py' button executes the complete pipeline in the background and refreshes the table instantly.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Zero AI Noise: </a:t>
            </a:r>
            <a:r>
              <a:rPr sz="1100">
                <a:solidFill>
                  <a:srgbClr val="64748B"/>
                </a:solidFill>
              </a:rPr>
              <a:t>No distracting neon badges, floating particles, or complex marketing fluff.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AISCRAPERAGENT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Summary &amp; Live Demonstration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How to run, test, and demonstrate the entire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Execution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1. Run Web Dashboard: 
</a:t>
            </a:r>
            <a:r>
              <a:rPr sz="1050">
                <a:solidFill>
                  <a:srgbClr val="64748B"/>
                </a:solidFill>
              </a:rPr>
              <a:t>powershell
python app.py
→ Opens on http://127.0.0.1:8000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2. Run Pipeline in Terminal: 
</a:t>
            </a:r>
            <a:r>
              <a:rPr sz="1050">
                <a:solidFill>
                  <a:srgbClr val="64748B"/>
                </a:solidFill>
              </a:rPr>
              <a:t>powershell
python main.py
→ Executes scraping, embedding &amp; prints top 5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3. Run LLM Transformer Demo: 
</a:t>
            </a:r>
            <a:r>
              <a:rPr sz="1050">
                <a:solidFill>
                  <a:srgbClr val="64748B"/>
                </a:solidFill>
              </a:rPr>
              <a:t>powershell
python show_transformer_demo.py
→ Converts raw unstructured French text to JSON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4. Run Automated Test Suite: 
</a:t>
            </a:r>
            <a:r>
              <a:rPr sz="1050">
                <a:solidFill>
                  <a:srgbClr val="64748B"/>
                </a:solidFill>
              </a:rPr>
              <a:t>powershell
pytest tests/test_phase2_nlp.py
→ Validates 8/8 tests across FR/EN/AR corpus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1907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Key Technical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Zero-Maintenance Scraping: </a:t>
            </a:r>
            <a:r>
              <a:rPr sz="1100">
                <a:solidFill>
                  <a:srgbClr val="64748B"/>
                </a:solidFill>
              </a:rPr>
              <a:t>Network interception bypasses fragile frontend DOM changes.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Tri-Lingual NLP Capability: </a:t>
            </a:r>
            <a:r>
              <a:rPr sz="1100">
                <a:solidFill>
                  <a:srgbClr val="64748B"/>
                </a:solidFill>
              </a:rPr>
              <a:t>Accurately extracts tenders written in French, English, and Arabic.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Hybrid Relevance Scoring: </a:t>
            </a:r>
            <a:r>
              <a:rPr sz="1100">
                <a:solidFill>
                  <a:srgbClr val="64748B"/>
                </a:solidFill>
              </a:rPr>
              <a:t>Dense vector embeddings combined with contextual LLM reasoning.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Dual-Layer Storage Architecture: </a:t>
            </a:r>
            <a:r>
              <a:rPr sz="1100">
                <a:solidFill>
                  <a:srgbClr val="64748B"/>
                </a:solidFill>
              </a:rPr>
              <a:t>Qdrant vector engine for semantic similarity + SQLite for relational metadata &amp; audit trail.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Clean, Non-AI Styled UI: </a:t>
            </a:r>
            <a:r>
              <a:rPr sz="1100">
                <a:solidFill>
                  <a:srgbClr val="64748B"/>
                </a:solidFill>
              </a:rPr>
              <a:t>Practical table interface designed for real operational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